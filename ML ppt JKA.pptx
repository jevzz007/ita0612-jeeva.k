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24" r:id="rId2"/>
    <p:sldId id="488" r:id="rId3"/>
    <p:sldId id="530" r:id="rId4"/>
    <p:sldId id="546" r:id="rId5"/>
    <p:sldId id="548" r:id="rId6"/>
    <p:sldId id="550" r:id="rId7"/>
    <p:sldId id="549" r:id="rId8"/>
    <p:sldId id="547" r:id="rId9"/>
    <p:sldId id="551" r:id="rId10"/>
    <p:sldId id="552" r:id="rId11"/>
    <p:sldId id="553" r:id="rId12"/>
    <p:sldId id="555" r:id="rId13"/>
    <p:sldId id="554" r:id="rId14"/>
    <p:sldId id="54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9E5"/>
    <a:srgbClr val="734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A7FCC-0033-007C-940D-376A2009CBC8}" v="71" dt="2025-12-30T03:27:00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80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7466F-0A30-447B-BCB3-85015AA9131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CD36D-EE7C-444D-8005-627C4987E66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fld id="{980672E4-136E-4E9D-8BF9-2A4B187C3B78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t>2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08A02-1395-42EE-8240-E3A4E007400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61996-44A9-4BCC-AC5B-F41FFF285D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8" y="10048"/>
            <a:ext cx="11997731" cy="160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338" y="3758084"/>
            <a:ext cx="12121662" cy="452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                                                                                                            PRESENTED BY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Dr.S.CHRISTY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(professor)                                                          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AJITH KUMAR.V(192421049)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SHANKARANAND </a:t>
            </a:r>
            <a:r>
              <a:rPr lang="en-IN" dirty="0"/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(Associate Professor)                                                                 JEEVA.K(192421112)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KAUSHIK.S(192421278)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D394CA-7E4C-0E27-32C3-3A09DC273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91383"/>
              </p:ext>
            </p:extLst>
          </p:nvPr>
        </p:nvGraphicFramePr>
        <p:xfrm>
          <a:off x="1022722" y="2282879"/>
          <a:ext cx="10431556" cy="2255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31556">
                  <a:extLst>
                    <a:ext uri="{9D8B030D-6E8A-4147-A177-3AD203B41FA5}">
                      <a16:colId xmlns:a16="http://schemas.microsoft.com/office/drawing/2014/main" val="1215455410"/>
                    </a:ext>
                  </a:extLst>
                </a:gridCol>
              </a:tblGrid>
              <a:tr h="1740247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+mn-lt"/>
                          <a:cs typeface="Times New Roman" panose="02020603050405020304" pitchFamily="18" charset="0"/>
                        </a:rPr>
                        <a:t>CAPSTONE PROJECT TITLE</a:t>
                      </a:r>
                      <a:endParaRPr lang="en-IN" sz="3200" b="1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35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Personalized Product Recommendation System Using K-nearest Neighbor Algorithm</a:t>
                      </a:r>
                      <a:endParaRPr lang="en-IN" sz="3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800" b="1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ITA0612</a:t>
                      </a:r>
                      <a:r>
                        <a:rPr lang="en-IN" sz="2800" b="1" dirty="0">
                          <a:latin typeface="+mn-lt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Machine Learning for Decision Making</a:t>
                      </a:r>
                      <a:endParaRPr lang="en-IN" sz="2800" b="1" dirty="0">
                        <a:solidFill>
                          <a:srgbClr val="002060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75262678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801519" y="7883699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fld id="{E71134AA-D2AD-499E-B752-F635D7C6C5C7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0" y="139002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5364" name="TextBox 8"/>
          <p:cNvSpPr txBox="1">
            <a:spLocks noChangeArrowheads="1"/>
          </p:cNvSpPr>
          <p:nvPr/>
        </p:nvSpPr>
        <p:spPr bwMode="auto">
          <a:xfrm>
            <a:off x="2199157" y="7912273"/>
            <a:ext cx="4648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endParaRPr lang="en-US" altLang="en-US" sz="140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66" name="TextBox 1"/>
          <p:cNvSpPr txBox="1">
            <a:spLocks noChangeArrowheads="1"/>
          </p:cNvSpPr>
          <p:nvPr/>
        </p:nvSpPr>
        <p:spPr bwMode="auto">
          <a:xfrm>
            <a:off x="1934918" y="6759536"/>
            <a:ext cx="797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/>
            <a:r>
              <a:rPr lang="en-US" altLang="en-US">
                <a:latin typeface="Perpetua" panose="02020502060401020303" pitchFamily="18" charset="0"/>
                <a:cs typeface="Arial" panose="020B0604020202020204" pitchFamily="34" charset="0"/>
              </a:rPr>
              <a:t>  </a:t>
            </a:r>
            <a:endParaRPr lang="en-US" altLang="en-US" sz="9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047" y="93881"/>
            <a:ext cx="9841906" cy="113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E455FE-6FC9-8442-B640-C3E5FE871F11}"/>
              </a:ext>
            </a:extLst>
          </p:cNvPr>
          <p:cNvSpPr txBox="1"/>
          <p:nvPr/>
        </p:nvSpPr>
        <p:spPr>
          <a:xfrm>
            <a:off x="1627833" y="4956349"/>
            <a:ext cx="3868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2E033156-DBAF-1D3B-1897-FB46D094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49699"/>
            <a:ext cx="9730415" cy="3735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Online shopping platforms show many products, making it difficult for users to choose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Personalized recommendation systems help users find products they like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These systems analyze user behavior such as ratings and purchase history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K-Nearest Neighbor algorithm finds users with similar interests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Products liked by similar users are recommended to the target user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KNN works on the principle that users with similar behavior tend to like similar products.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0FE8C8-59A6-15C7-986E-CE3D084C6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2155"/>
            <a:ext cx="3491203" cy="3938355"/>
          </a:xfrm>
          <a:prstGeom prst="rect">
            <a:avLst/>
          </a:prstGeom>
        </p:spPr>
      </p:pic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F1B6D848-6794-6F28-B535-8ACDA6F7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7170EF-45E7-405E-15C8-E5749FAF5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AF44B-08B0-47CD-7D98-DC9F6361779B}"/>
              </a:ext>
            </a:extLst>
          </p:cNvPr>
          <p:cNvSpPr txBox="1"/>
          <p:nvPr/>
        </p:nvSpPr>
        <p:spPr>
          <a:xfrm>
            <a:off x="4155928" y="2402155"/>
            <a:ext cx="7244861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design a personalized product recommendation system using the K-Nearest Neighbor algorithm.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analyze user behavior such as ratings, purchase history, and browsing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identify similar users or products based on similarity measures.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improve user experience by providing personalized suggestions.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7915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F360-0201-F829-53EC-64DF82D2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BC201A-0779-A022-FFAF-652630B1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2155"/>
            <a:ext cx="3491203" cy="3938355"/>
          </a:xfrm>
          <a:prstGeom prst="rect">
            <a:avLst/>
          </a:prstGeom>
        </p:spPr>
      </p:pic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675B605C-2E4C-365B-9349-F17C94AAA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C4494D-A3A8-BA72-BB20-3302B8BF1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B3FD6-D38C-E308-F10B-A21A90D9A4EB}"/>
              </a:ext>
            </a:extLst>
          </p:cNvPr>
          <p:cNvSpPr txBox="1"/>
          <p:nvPr/>
        </p:nvSpPr>
        <p:spPr>
          <a:xfrm>
            <a:off x="3838253" y="2402155"/>
            <a:ext cx="7244861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Collect user interaction data such as ratings and purchase history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Preprocess data by cleaning, normalizing, and forming a user–item matrix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Represent users as feature vectors for similarity calculation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Apply K-Nearest Neighbor algorithm using cosine similarity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Generate personalized product recommendations based on similar users.</a:t>
            </a:r>
          </a:p>
        </p:txBody>
      </p:sp>
    </p:spTree>
    <p:extLst>
      <p:ext uri="{BB962C8B-B14F-4D97-AF65-F5344CB8AC3E}">
        <p14:creationId xmlns:p14="http://schemas.microsoft.com/office/powerpoint/2010/main" val="78147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0B35-9320-21E2-9E11-E7679B7A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DA8F9B-EBE3-6901-BA07-BF00892B4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2155"/>
            <a:ext cx="3491203" cy="3938355"/>
          </a:xfrm>
          <a:prstGeom prst="rect">
            <a:avLst/>
          </a:prstGeom>
        </p:spPr>
      </p:pic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EE9586B5-C0F9-3BEF-11E2-6653E160D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F235A2-117A-A577-A5BF-7A89B3675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04F5D-910B-A38D-3D5A-7B62FFCA2F13}"/>
              </a:ext>
            </a:extLst>
          </p:cNvPr>
          <p:cNvSpPr txBox="1"/>
          <p:nvPr/>
        </p:nvSpPr>
        <p:spPr>
          <a:xfrm>
            <a:off x="4510774" y="2706058"/>
            <a:ext cx="7244861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Users face difficulty in choosing products from large catalogs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Generic recommendations are not effective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Need a system that provides </a:t>
            </a:r>
            <a:r>
              <a:rPr lang="en-US" sz="2000" b="1" dirty="0"/>
              <a:t>personalized</a:t>
            </a:r>
            <a:r>
              <a:rPr lang="en-US" sz="2000" dirty="0"/>
              <a:t> suggestions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Existing systems lack accuracy for new preferences</a:t>
            </a:r>
          </a:p>
        </p:txBody>
      </p:sp>
    </p:spTree>
    <p:extLst>
      <p:ext uri="{BB962C8B-B14F-4D97-AF65-F5344CB8AC3E}">
        <p14:creationId xmlns:p14="http://schemas.microsoft.com/office/powerpoint/2010/main" val="78563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78CA7-5F8F-9A49-77C6-EB325096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514B0091-7219-A6D0-7AFC-54D7ACB93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5CE2B9-2FFE-A8CF-78C9-608B291B6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RCHITECTURE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D66F9940-659C-224F-C744-0117018F1A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" r="-142" b="19519"/>
          <a:stretch>
            <a:fillRect/>
          </a:stretch>
        </p:blipFill>
        <p:spPr>
          <a:xfrm>
            <a:off x="2214966" y="2156847"/>
            <a:ext cx="7771780" cy="43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7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428D-FE29-7022-649C-813BD072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9342CD87-12F3-34DE-E670-528EF6B42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5EE6C6-A593-5E47-A34C-92C43E20F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IN" sz="3200" b="1" dirty="0">
                <a:solidFill>
                  <a:schemeClr val="bg1"/>
                </a:solidFill>
                <a:latin typeface="Times New Roman"/>
                <a:cs typeface="Times New Roman"/>
              </a:rPr>
              <a:t>SYSTEM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08109-1C85-D815-F1C9-D9EB9EDA5B65}"/>
              </a:ext>
            </a:extLst>
          </p:cNvPr>
          <p:cNvSpPr txBox="1"/>
          <p:nvPr/>
        </p:nvSpPr>
        <p:spPr>
          <a:xfrm>
            <a:off x="693336" y="2863780"/>
            <a:ext cx="624083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users and products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and preprocessing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KNN-based recommendation model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personalized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25D4E-D926-BC64-1DA9-EBE09D41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16" y="2863780"/>
            <a:ext cx="5115448" cy="27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59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88FF-5EA0-EEF7-A651-B76BE92B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37F0E501-ED2C-4D4A-A49B-68EC33BB0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08E1C4-0AD5-B000-7031-8245598D0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MODULE 1: DATA PREPROCESSING FOR RECOMMENDATION SYSTEM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C6B0A-3467-F3B7-6FD7-885C236D6601}"/>
              </a:ext>
            </a:extLst>
          </p:cNvPr>
          <p:cNvSpPr txBox="1"/>
          <p:nvPr/>
        </p:nvSpPr>
        <p:spPr>
          <a:xfrm>
            <a:off x="1433564" y="1988135"/>
            <a:ext cx="757980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Module Description</a:t>
            </a:r>
          </a:p>
          <a:p>
            <a:pPr algn="just"/>
            <a:r>
              <a:rPr lang="en-US" sz="2000" dirty="0"/>
              <a:t>This module is responsible for preparing raw user interaction data for recommendation processing. Data such as user IDs, product IDs, and ratings are collected and cleaned to ensure accuracy. 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Key Processes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Data collection from user interactions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Removal of duplicates and missing values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Rating normalization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User–item matrix formation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Feature vector generation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Outcome</a:t>
            </a:r>
          </a:p>
          <a:p>
            <a:pPr algn="just"/>
            <a:r>
              <a:rPr lang="en-US" sz="2000" dirty="0"/>
              <a:t>A clean and structured dataset suitable for similarity computation and recommendation generation.</a:t>
            </a:r>
          </a:p>
          <a:p>
            <a:pPr algn="just"/>
            <a:br>
              <a:rPr lang="en-US" sz="2000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5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224F-3FE0-7745-D141-5D1EC78AB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0987202C-3D89-D4C0-F771-9473816AB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485310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A1F066-64D8-4DDF-3C5E-A793D8B5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516" y="1537785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 MODULE 2: KNN RECOMMENDATION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0583E-4BB0-4F5F-C6EA-C2C7A77C8785}"/>
              </a:ext>
            </a:extLst>
          </p:cNvPr>
          <p:cNvSpPr txBox="1"/>
          <p:nvPr/>
        </p:nvSpPr>
        <p:spPr>
          <a:xfrm>
            <a:off x="1323511" y="2433813"/>
            <a:ext cx="75798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Module Description</a:t>
            </a:r>
          </a:p>
          <a:p>
            <a:r>
              <a:rPr lang="en-US" sz="2000" dirty="0"/>
              <a:t>This module implements the core recommendation logic using the K-Nearest Neighbor (KNN) algorithm. Each user is represented as a feature vector derived from the user–item matrix. Cosine similarity is used to calculate the distance between users. </a:t>
            </a:r>
          </a:p>
          <a:p>
            <a:endParaRPr lang="en-US" sz="2000" b="1" dirty="0"/>
          </a:p>
          <a:p>
            <a:r>
              <a:rPr lang="en-US" sz="2000" b="1" dirty="0"/>
              <a:t>Key Algorithms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K-Nearest Neighbor (KNN)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Cosine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User-based collaborative filtering</a:t>
            </a:r>
          </a:p>
          <a:p>
            <a:endParaRPr lang="en-US" sz="2000" dirty="0"/>
          </a:p>
          <a:p>
            <a:r>
              <a:rPr lang="en-US" sz="2000" b="1" dirty="0"/>
              <a:t>Outcome</a:t>
            </a:r>
          </a:p>
          <a:p>
            <a:r>
              <a:rPr lang="en-US" sz="2000" dirty="0"/>
              <a:t>Personalized product recommendations generated based on user similarity.</a:t>
            </a:r>
          </a:p>
        </p:txBody>
      </p:sp>
    </p:spTree>
    <p:extLst>
      <p:ext uri="{BB962C8B-B14F-4D97-AF65-F5344CB8AC3E}">
        <p14:creationId xmlns:p14="http://schemas.microsoft.com/office/powerpoint/2010/main" val="202894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E9FE-C9E0-6028-EB6F-3686AD03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27766B2F-6FE7-0310-C8D1-4CAA7E580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694" y="373791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22AA9F-876F-10BA-59D6-AD2C50F42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366335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/>
                <a:cs typeface="Times New Roman"/>
              </a:rPr>
              <a:t>MODULE 3: MODEL EVALUATION AND METRICS </a:t>
            </a:r>
            <a:endParaRPr lang="fr-FR" sz="2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4D6C0-F140-60F5-26E3-06EA1104FEAC}"/>
              </a:ext>
            </a:extLst>
          </p:cNvPr>
          <p:cNvSpPr txBox="1"/>
          <p:nvPr/>
        </p:nvSpPr>
        <p:spPr>
          <a:xfrm>
            <a:off x="306998" y="2149019"/>
            <a:ext cx="7579807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/>
              <a:t>Module Description</a:t>
            </a:r>
          </a:p>
          <a:p>
            <a:r>
              <a:rPr lang="en-US" sz="2000" dirty="0"/>
              <a:t>This module evaluates the effectiveness of the recommendation system These metrics help measure how accurately the system recommends relevant products.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/>
          </a:p>
          <a:p>
            <a:r>
              <a:rPr lang="en-US" sz="2000" b="1" dirty="0"/>
              <a:t>Evaluation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Similarity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Recommendation accuracy (optional)</a:t>
            </a:r>
          </a:p>
          <a:p>
            <a:endParaRPr lang="en-US" sz="2000" dirty="0"/>
          </a:p>
          <a:p>
            <a:r>
              <a:rPr lang="en-US" sz="2000" b="1" dirty="0"/>
              <a:t>Outcome</a:t>
            </a:r>
          </a:p>
          <a:p>
            <a:r>
              <a:rPr lang="en-US" sz="2000" dirty="0"/>
              <a:t>Validated and reliable recommendations with measurable performance indicators.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1B418F-F573-F0A7-06ED-ED3FBB319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40" y="3271157"/>
            <a:ext cx="3896562" cy="22635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620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8B54-BD2A-F7C0-8557-F8481225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B0756133-870C-1B87-0872-AAC6277A2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C73190-AFC9-FF30-8CAD-DC68250AB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RESULT &amp; OUTPUT</a:t>
            </a:r>
            <a:endParaRPr lang="en-US" sz="28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EDF5AB52-1291-7206-F235-B2B110E9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50" y="2730795"/>
            <a:ext cx="5137273" cy="3043970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9A6B52D-211A-4FB9-3013-F9F05550F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70" r="216" b="5684"/>
          <a:stretch>
            <a:fillRect/>
          </a:stretch>
        </p:blipFill>
        <p:spPr>
          <a:xfrm>
            <a:off x="445345" y="2730886"/>
            <a:ext cx="6266684" cy="301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52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5031-1BD2-BC8C-A02B-4FC75E90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C6515B5E-36B0-82F9-A100-616FA56F5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4726FA-E34F-173E-20AF-63C56F68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 CONCLUSION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794B8-2997-1992-550C-35925B17F9DC}"/>
              </a:ext>
            </a:extLst>
          </p:cNvPr>
          <p:cNvSpPr txBox="1"/>
          <p:nvPr/>
        </p:nvSpPr>
        <p:spPr>
          <a:xfrm>
            <a:off x="1524000" y="2202320"/>
            <a:ext cx="8855947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a personalized product recommendation system using KNN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Successfully identified similar users based on behavior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Generated relevant product recommendations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Improved user experience and engagement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Integrate hybrid recommendation techniques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Apply deep learning models for better accuracy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Support real-time recommendation updates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526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38A2-478C-A0A0-D19A-27CF2C27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52920C7C-EDD4-9999-EA4A-6650B67EF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5" y="74764"/>
            <a:ext cx="7239000" cy="8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51DDDF-5F7B-ED5F-EC22-C6305765F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61658"/>
            <a:ext cx="9144000" cy="685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lIns="91440" tIns="45720" rIns="91440" bIns="4572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 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EC005-EB95-77AF-C8C9-E706CDB27F0B}"/>
              </a:ext>
            </a:extLst>
          </p:cNvPr>
          <p:cNvSpPr txBox="1"/>
          <p:nvPr/>
        </p:nvSpPr>
        <p:spPr>
          <a:xfrm>
            <a:off x="1393371" y="2121960"/>
            <a:ext cx="8855947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J. Han, M. Kamber, and J. Pei, </a:t>
            </a:r>
            <a:r>
              <a:rPr lang="en-IN" sz="2000" i="1" dirty="0"/>
              <a:t>Data Mining: Concepts and Techniques</a:t>
            </a:r>
            <a:r>
              <a:rPr lang="en-IN" sz="2000" dirty="0"/>
              <a:t>, 3rd Edition, Morgan Kaufmann, 2012.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F. Ricci, L. Rokach, and B. Shapira, </a:t>
            </a:r>
            <a:r>
              <a:rPr lang="en-IN" sz="2000" i="1" dirty="0"/>
              <a:t>Recommender Systems Handbook</a:t>
            </a:r>
            <a:r>
              <a:rPr lang="en-IN" sz="2000" dirty="0"/>
              <a:t>, Springer, 2015.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S. B. </a:t>
            </a:r>
            <a:r>
              <a:rPr lang="en-IN" sz="2000" dirty="0" err="1"/>
              <a:t>Kotsiantis</a:t>
            </a:r>
            <a:r>
              <a:rPr lang="en-IN" sz="2000" dirty="0"/>
              <a:t>, “Collaborative Filtering and Recommendation Systems,” </a:t>
            </a:r>
            <a:r>
              <a:rPr lang="en-IN" sz="2000" i="1" dirty="0"/>
              <a:t>International Journal of Computer Science and Applications</a:t>
            </a:r>
            <a:r>
              <a:rPr lang="en-IN" sz="2000" dirty="0"/>
              <a:t>, 2010.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T. Hastie, R. </a:t>
            </a:r>
            <a:r>
              <a:rPr lang="en-IN" sz="2000" dirty="0" err="1"/>
              <a:t>Tibshirani</a:t>
            </a:r>
            <a:r>
              <a:rPr lang="en-IN" sz="2000" dirty="0"/>
              <a:t>, and J. Friedman, </a:t>
            </a:r>
            <a:r>
              <a:rPr lang="en-IN" sz="2000" i="1" dirty="0"/>
              <a:t>The Elements of Statistical Learning</a:t>
            </a:r>
            <a:r>
              <a:rPr lang="en-IN" sz="2000" dirty="0"/>
              <a:t>, Springer, 2009.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Scikit-learn Documentation – Nearest </a:t>
            </a:r>
            <a:r>
              <a:rPr lang="en-IN" sz="2000" dirty="0" err="1"/>
              <a:t>Neighbors</a:t>
            </a:r>
            <a:br>
              <a:rPr lang="en-IN" sz="2000" dirty="0"/>
            </a:br>
            <a:endParaRPr lang="en-IN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81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F7E2BA-A4CC-1C4E-27A4-CF4FEFDFE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13" y="0"/>
            <a:ext cx="12257314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10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9952</TotalTime>
  <Words>670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sarasur.sse@saveetha.com</dc:creator>
  <cp:lastModifiedBy>KAUSHIK S</cp:lastModifiedBy>
  <cp:revision>89</cp:revision>
  <dcterms:created xsi:type="dcterms:W3CDTF">2025-02-18T04:20:00Z</dcterms:created>
  <dcterms:modified xsi:type="dcterms:W3CDTF">2025-12-30T03:31:33Z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FBA5758AC5134655926B6C7F9D664471_12</vt:lpwstr>
  </property>
  <property fmtid="{D5CDD505-2E9C-101B-9397-08002B2CF9AE}" pid="3" name="KSOProductBuildVer">
    <vt:lpwstr>1033-12.2.0.20323</vt:lpwstr>
  </property>
</Properties>
</file>